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9"/>
  </p:notesMasterIdLst>
  <p:sldIdLst>
    <p:sldId id="280" r:id="rId5"/>
    <p:sldId id="277" r:id="rId6"/>
    <p:sldId id="294" r:id="rId7"/>
    <p:sldId id="292" r:id="rId8"/>
    <p:sldId id="295" r:id="rId9"/>
    <p:sldId id="301" r:id="rId10"/>
    <p:sldId id="297" r:id="rId11"/>
    <p:sldId id="302" r:id="rId12"/>
    <p:sldId id="303" r:id="rId13"/>
    <p:sldId id="298" r:id="rId14"/>
    <p:sldId id="304" r:id="rId15"/>
    <p:sldId id="305" r:id="rId16"/>
    <p:sldId id="293" r:id="rId17"/>
    <p:sldId id="30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E2FF"/>
    <a:srgbClr val="09FF78"/>
    <a:srgbClr val="F67E8C"/>
    <a:srgbClr val="E51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25E5076-3810-47DD-B79F-674D7AD40C01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9" autoAdjust="0"/>
    <p:restoredTop sz="94609" autoAdjust="0"/>
  </p:normalViewPr>
  <p:slideViewPr>
    <p:cSldViewPr snapToGrid="0">
      <p:cViewPr varScale="1">
        <p:scale>
          <a:sx n="83" d="100"/>
          <a:sy n="83" d="100"/>
        </p:scale>
        <p:origin x="74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14B779-7A91-400D-A91B-B8D8FAF0E8C8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</dgm:pt>
    <dgm:pt modelId="{28C746C2-9738-402A-B01A-B8E9AF73F159}">
      <dgm:prSet phldrT="[Text]"/>
      <dgm:spPr>
        <a:solidFill>
          <a:srgbClr val="00B0F0"/>
        </a:solidFill>
      </dgm:spPr>
      <dgm:t>
        <a:bodyPr/>
        <a:lstStyle/>
        <a:p>
          <a:r>
            <a:rPr lang="en-US" b="1" dirty="0"/>
            <a:t>HTML</a:t>
          </a:r>
          <a:r>
            <a:rPr lang="en-US" dirty="0"/>
            <a:t> – </a:t>
          </a:r>
          <a:r>
            <a:rPr lang="en-US" b="1" dirty="0">
              <a:solidFill>
                <a:schemeClr val="bg1"/>
              </a:solidFill>
            </a:rPr>
            <a:t>To structure the chat application.</a:t>
          </a:r>
          <a:endParaRPr lang="en-IN" b="1" dirty="0">
            <a:solidFill>
              <a:schemeClr val="bg1"/>
            </a:solidFill>
          </a:endParaRPr>
        </a:p>
      </dgm:t>
    </dgm:pt>
    <dgm:pt modelId="{865EC110-D7BA-419F-9898-74C67554833E}" type="parTrans" cxnId="{0AA15A92-6508-46EC-95F9-0C0A8FCC2B9E}">
      <dgm:prSet/>
      <dgm:spPr/>
      <dgm:t>
        <a:bodyPr/>
        <a:lstStyle/>
        <a:p>
          <a:endParaRPr lang="en-IN"/>
        </a:p>
      </dgm:t>
    </dgm:pt>
    <dgm:pt modelId="{6AC5DAC1-FB57-4058-8D41-86C4375A8083}" type="sibTrans" cxnId="{0AA15A92-6508-46EC-95F9-0C0A8FCC2B9E}">
      <dgm:prSet/>
      <dgm:spPr/>
      <dgm:t>
        <a:bodyPr/>
        <a:lstStyle/>
        <a:p>
          <a:endParaRPr lang="en-IN"/>
        </a:p>
      </dgm:t>
    </dgm:pt>
    <dgm:pt modelId="{F673436B-54FA-425B-84B2-882585EE911B}">
      <dgm:prSet/>
      <dgm:spPr>
        <a:solidFill>
          <a:srgbClr val="00B050"/>
        </a:solidFill>
      </dgm:spPr>
      <dgm:t>
        <a:bodyPr/>
        <a:lstStyle/>
        <a:p>
          <a:pPr>
            <a:buNone/>
          </a:pPr>
          <a:r>
            <a:rPr lang="en-US" b="1" dirty="0"/>
            <a:t>CSS – </a:t>
          </a:r>
          <a:r>
            <a:rPr lang="en-US" b="1" dirty="0">
              <a:solidFill>
                <a:schemeClr val="bg1"/>
              </a:solidFill>
            </a:rPr>
            <a:t>To style the application and make it visually appealing and responsive.</a:t>
          </a:r>
          <a:endParaRPr lang="en-IN" b="1" dirty="0">
            <a:solidFill>
              <a:schemeClr val="bg1"/>
            </a:solidFill>
          </a:endParaRPr>
        </a:p>
      </dgm:t>
    </dgm:pt>
    <dgm:pt modelId="{96A41DD3-4352-474F-A1F3-7624832F400A}" type="parTrans" cxnId="{0B84E467-5801-461D-BF1B-563268276AD2}">
      <dgm:prSet/>
      <dgm:spPr/>
      <dgm:t>
        <a:bodyPr/>
        <a:lstStyle/>
        <a:p>
          <a:endParaRPr lang="en-IN"/>
        </a:p>
      </dgm:t>
    </dgm:pt>
    <dgm:pt modelId="{D3535859-DB74-460C-89A6-ED9D54FF60EF}" type="sibTrans" cxnId="{0B84E467-5801-461D-BF1B-563268276AD2}">
      <dgm:prSet/>
      <dgm:spPr/>
      <dgm:t>
        <a:bodyPr/>
        <a:lstStyle/>
        <a:p>
          <a:endParaRPr lang="en-IN"/>
        </a:p>
      </dgm:t>
    </dgm:pt>
    <dgm:pt modelId="{2550265F-7B43-4A23-A4B1-EDCF1A89E6C1}">
      <dgm:prSet/>
      <dgm:spPr>
        <a:solidFill>
          <a:srgbClr val="E51B5E"/>
        </a:solidFill>
      </dgm:spPr>
      <dgm:t>
        <a:bodyPr/>
        <a:lstStyle/>
        <a:p>
          <a:r>
            <a:rPr lang="en-US" b="1" dirty="0"/>
            <a:t>JavaScript</a:t>
          </a:r>
          <a:r>
            <a:rPr lang="en-US" dirty="0"/>
            <a:t> – </a:t>
          </a:r>
          <a:r>
            <a:rPr lang="en-US" b="1" dirty="0">
              <a:solidFill>
                <a:schemeClr val="bg1"/>
              </a:solidFill>
            </a:rPr>
            <a:t>To add interactivity and handle chat logic, message rendering, timestamps, and data storage using localStorage.</a:t>
          </a:r>
          <a:endParaRPr lang="en-IN" b="1" dirty="0">
            <a:solidFill>
              <a:schemeClr val="bg1"/>
            </a:solidFill>
          </a:endParaRPr>
        </a:p>
      </dgm:t>
    </dgm:pt>
    <dgm:pt modelId="{5BF4CA9D-0716-4941-A517-1D572D2F1B59}" type="parTrans" cxnId="{4F268B32-2ED2-4102-95F9-4D0441252706}">
      <dgm:prSet/>
      <dgm:spPr/>
      <dgm:t>
        <a:bodyPr/>
        <a:lstStyle/>
        <a:p>
          <a:endParaRPr lang="en-IN"/>
        </a:p>
      </dgm:t>
    </dgm:pt>
    <dgm:pt modelId="{72ACB0AD-8526-4A98-B83B-DE32821214C5}" type="sibTrans" cxnId="{4F268B32-2ED2-4102-95F9-4D0441252706}">
      <dgm:prSet/>
      <dgm:spPr/>
      <dgm:t>
        <a:bodyPr/>
        <a:lstStyle/>
        <a:p>
          <a:endParaRPr lang="en-IN"/>
        </a:p>
      </dgm:t>
    </dgm:pt>
    <dgm:pt modelId="{8A146604-D165-465A-89DE-FFCF24B14704}" type="pres">
      <dgm:prSet presAssocID="{8714B779-7A91-400D-A91B-B8D8FAF0E8C8}" presName="linearFlow" presStyleCnt="0">
        <dgm:presLayoutVars>
          <dgm:dir/>
          <dgm:resizeHandles val="exact"/>
        </dgm:presLayoutVars>
      </dgm:prSet>
      <dgm:spPr/>
    </dgm:pt>
    <dgm:pt modelId="{8F9C60B0-AEAF-484C-BC5B-E5585FA5D895}" type="pres">
      <dgm:prSet presAssocID="{28C746C2-9738-402A-B01A-B8E9AF73F159}" presName="composite" presStyleCnt="0"/>
      <dgm:spPr/>
    </dgm:pt>
    <dgm:pt modelId="{547E59AD-ECE1-46C5-ABFF-1872E792FB3E}" type="pres">
      <dgm:prSet presAssocID="{28C746C2-9738-402A-B01A-B8E9AF73F159}" presName="imgShp" presStyleLbl="fgImgPlace1" presStyleIdx="0" presStyleCnt="3"/>
      <dgm:spPr>
        <a:solidFill>
          <a:srgbClr val="8FE2FF"/>
        </a:solidFill>
      </dgm:spPr>
    </dgm:pt>
    <dgm:pt modelId="{61653292-CFBF-420E-ACE7-C7F3AFD85CFE}" type="pres">
      <dgm:prSet presAssocID="{28C746C2-9738-402A-B01A-B8E9AF73F159}" presName="txShp" presStyleLbl="node1" presStyleIdx="0" presStyleCnt="3">
        <dgm:presLayoutVars>
          <dgm:bulletEnabled val="1"/>
        </dgm:presLayoutVars>
      </dgm:prSet>
      <dgm:spPr/>
    </dgm:pt>
    <dgm:pt modelId="{9097829E-88AD-478D-ADF7-DA5AE198BAAC}" type="pres">
      <dgm:prSet presAssocID="{6AC5DAC1-FB57-4058-8D41-86C4375A8083}" presName="spacing" presStyleCnt="0"/>
      <dgm:spPr/>
    </dgm:pt>
    <dgm:pt modelId="{AE9E4AFD-D8F1-4123-BFFA-84CE2A48EF8E}" type="pres">
      <dgm:prSet presAssocID="{F673436B-54FA-425B-84B2-882585EE911B}" presName="composite" presStyleCnt="0"/>
      <dgm:spPr/>
    </dgm:pt>
    <dgm:pt modelId="{EAB78AB2-BCA7-41D5-B54D-2BE7C39B87DF}" type="pres">
      <dgm:prSet presAssocID="{F673436B-54FA-425B-84B2-882585EE911B}" presName="imgShp" presStyleLbl="fgImgPlace1" presStyleIdx="1" presStyleCnt="3"/>
      <dgm:spPr>
        <a:solidFill>
          <a:srgbClr val="09FF78"/>
        </a:solidFill>
      </dgm:spPr>
    </dgm:pt>
    <dgm:pt modelId="{1283DA36-55AF-4F3B-9CED-91E3BD3CAEFB}" type="pres">
      <dgm:prSet presAssocID="{F673436B-54FA-425B-84B2-882585EE911B}" presName="txShp" presStyleLbl="node1" presStyleIdx="1" presStyleCnt="3">
        <dgm:presLayoutVars>
          <dgm:bulletEnabled val="1"/>
        </dgm:presLayoutVars>
      </dgm:prSet>
      <dgm:spPr/>
    </dgm:pt>
    <dgm:pt modelId="{C566A956-7954-46F0-BE4C-C085ACA9B987}" type="pres">
      <dgm:prSet presAssocID="{D3535859-DB74-460C-89A6-ED9D54FF60EF}" presName="spacing" presStyleCnt="0"/>
      <dgm:spPr/>
    </dgm:pt>
    <dgm:pt modelId="{E908A1C6-03FB-4E37-A280-4734926A18CC}" type="pres">
      <dgm:prSet presAssocID="{2550265F-7B43-4A23-A4B1-EDCF1A89E6C1}" presName="composite" presStyleCnt="0"/>
      <dgm:spPr/>
    </dgm:pt>
    <dgm:pt modelId="{730E6C0B-4A21-4104-AC1A-871CFCE9D703}" type="pres">
      <dgm:prSet presAssocID="{2550265F-7B43-4A23-A4B1-EDCF1A89E6C1}" presName="imgShp" presStyleLbl="fgImgPlace1" presStyleIdx="2" presStyleCnt="3"/>
      <dgm:spPr>
        <a:solidFill>
          <a:srgbClr val="F67E8C"/>
        </a:solidFill>
      </dgm:spPr>
    </dgm:pt>
    <dgm:pt modelId="{1734A79C-3559-474F-BEB4-342C2034C7D6}" type="pres">
      <dgm:prSet presAssocID="{2550265F-7B43-4A23-A4B1-EDCF1A89E6C1}" presName="txShp" presStyleLbl="node1" presStyleIdx="2" presStyleCnt="3">
        <dgm:presLayoutVars>
          <dgm:bulletEnabled val="1"/>
        </dgm:presLayoutVars>
      </dgm:prSet>
      <dgm:spPr/>
    </dgm:pt>
  </dgm:ptLst>
  <dgm:cxnLst>
    <dgm:cxn modelId="{4F268B32-2ED2-4102-95F9-4D0441252706}" srcId="{8714B779-7A91-400D-A91B-B8D8FAF0E8C8}" destId="{2550265F-7B43-4A23-A4B1-EDCF1A89E6C1}" srcOrd="2" destOrd="0" parTransId="{5BF4CA9D-0716-4941-A517-1D572D2F1B59}" sibTransId="{72ACB0AD-8526-4A98-B83B-DE32821214C5}"/>
    <dgm:cxn modelId="{3702A544-8601-436F-9D9F-347D271DFBD9}" type="presOf" srcId="{8714B779-7A91-400D-A91B-B8D8FAF0E8C8}" destId="{8A146604-D165-465A-89DE-FFCF24B14704}" srcOrd="0" destOrd="0" presId="urn:microsoft.com/office/officeart/2005/8/layout/vList3"/>
    <dgm:cxn modelId="{0B84E467-5801-461D-BF1B-563268276AD2}" srcId="{8714B779-7A91-400D-A91B-B8D8FAF0E8C8}" destId="{F673436B-54FA-425B-84B2-882585EE911B}" srcOrd="1" destOrd="0" parTransId="{96A41DD3-4352-474F-A1F3-7624832F400A}" sibTransId="{D3535859-DB74-460C-89A6-ED9D54FF60EF}"/>
    <dgm:cxn modelId="{36E56E6C-ECAE-4FA5-9927-D36F78FC130C}" type="presOf" srcId="{2550265F-7B43-4A23-A4B1-EDCF1A89E6C1}" destId="{1734A79C-3559-474F-BEB4-342C2034C7D6}" srcOrd="0" destOrd="0" presId="urn:microsoft.com/office/officeart/2005/8/layout/vList3"/>
    <dgm:cxn modelId="{0AA15A92-6508-46EC-95F9-0C0A8FCC2B9E}" srcId="{8714B779-7A91-400D-A91B-B8D8FAF0E8C8}" destId="{28C746C2-9738-402A-B01A-B8E9AF73F159}" srcOrd="0" destOrd="0" parTransId="{865EC110-D7BA-419F-9898-74C67554833E}" sibTransId="{6AC5DAC1-FB57-4058-8D41-86C4375A8083}"/>
    <dgm:cxn modelId="{106D3CAD-28D1-485C-A8A5-D47A2C703FF0}" type="presOf" srcId="{28C746C2-9738-402A-B01A-B8E9AF73F159}" destId="{61653292-CFBF-420E-ACE7-C7F3AFD85CFE}" srcOrd="0" destOrd="0" presId="urn:microsoft.com/office/officeart/2005/8/layout/vList3"/>
    <dgm:cxn modelId="{A3DC80B8-E471-4C61-B404-6FC7EC66ED2A}" type="presOf" srcId="{F673436B-54FA-425B-84B2-882585EE911B}" destId="{1283DA36-55AF-4F3B-9CED-91E3BD3CAEFB}" srcOrd="0" destOrd="0" presId="urn:microsoft.com/office/officeart/2005/8/layout/vList3"/>
    <dgm:cxn modelId="{31F3F8B8-5382-4C3E-8A71-1A65A4D33664}" type="presParOf" srcId="{8A146604-D165-465A-89DE-FFCF24B14704}" destId="{8F9C60B0-AEAF-484C-BC5B-E5585FA5D895}" srcOrd="0" destOrd="0" presId="urn:microsoft.com/office/officeart/2005/8/layout/vList3"/>
    <dgm:cxn modelId="{A3408D6C-F97D-4FDC-A13F-F46F3BB677CF}" type="presParOf" srcId="{8F9C60B0-AEAF-484C-BC5B-E5585FA5D895}" destId="{547E59AD-ECE1-46C5-ABFF-1872E792FB3E}" srcOrd="0" destOrd="0" presId="urn:microsoft.com/office/officeart/2005/8/layout/vList3"/>
    <dgm:cxn modelId="{BD8C0806-129A-484C-9355-F93FB7CCF8F3}" type="presParOf" srcId="{8F9C60B0-AEAF-484C-BC5B-E5585FA5D895}" destId="{61653292-CFBF-420E-ACE7-C7F3AFD85CFE}" srcOrd="1" destOrd="0" presId="urn:microsoft.com/office/officeart/2005/8/layout/vList3"/>
    <dgm:cxn modelId="{ECECEC63-6F8A-4E16-AA6A-BD826D58A039}" type="presParOf" srcId="{8A146604-D165-465A-89DE-FFCF24B14704}" destId="{9097829E-88AD-478D-ADF7-DA5AE198BAAC}" srcOrd="1" destOrd="0" presId="urn:microsoft.com/office/officeart/2005/8/layout/vList3"/>
    <dgm:cxn modelId="{E378CD0D-1DD1-4B9D-9E67-53566079E609}" type="presParOf" srcId="{8A146604-D165-465A-89DE-FFCF24B14704}" destId="{AE9E4AFD-D8F1-4123-BFFA-84CE2A48EF8E}" srcOrd="2" destOrd="0" presId="urn:microsoft.com/office/officeart/2005/8/layout/vList3"/>
    <dgm:cxn modelId="{23F5ABED-3052-4EE4-8B35-1530322519EF}" type="presParOf" srcId="{AE9E4AFD-D8F1-4123-BFFA-84CE2A48EF8E}" destId="{EAB78AB2-BCA7-41D5-B54D-2BE7C39B87DF}" srcOrd="0" destOrd="0" presId="urn:microsoft.com/office/officeart/2005/8/layout/vList3"/>
    <dgm:cxn modelId="{3CFEC022-358B-49DB-97DD-9B4BF59A3534}" type="presParOf" srcId="{AE9E4AFD-D8F1-4123-BFFA-84CE2A48EF8E}" destId="{1283DA36-55AF-4F3B-9CED-91E3BD3CAEFB}" srcOrd="1" destOrd="0" presId="urn:microsoft.com/office/officeart/2005/8/layout/vList3"/>
    <dgm:cxn modelId="{6A343261-71B9-4A22-80CD-7CC761F7D7AB}" type="presParOf" srcId="{8A146604-D165-465A-89DE-FFCF24B14704}" destId="{C566A956-7954-46F0-BE4C-C085ACA9B987}" srcOrd="3" destOrd="0" presId="urn:microsoft.com/office/officeart/2005/8/layout/vList3"/>
    <dgm:cxn modelId="{75C9F823-6BD2-4E09-AC79-F9F6D95026D5}" type="presParOf" srcId="{8A146604-D165-465A-89DE-FFCF24B14704}" destId="{E908A1C6-03FB-4E37-A280-4734926A18CC}" srcOrd="4" destOrd="0" presId="urn:microsoft.com/office/officeart/2005/8/layout/vList3"/>
    <dgm:cxn modelId="{49D4E7B5-4480-49DB-B801-264106CD6824}" type="presParOf" srcId="{E908A1C6-03FB-4E37-A280-4734926A18CC}" destId="{730E6C0B-4A21-4104-AC1A-871CFCE9D703}" srcOrd="0" destOrd="0" presId="urn:microsoft.com/office/officeart/2005/8/layout/vList3"/>
    <dgm:cxn modelId="{409B0B2F-9AB7-4EA5-9D7F-633F4FB007AF}" type="presParOf" srcId="{E908A1C6-03FB-4E37-A280-4734926A18CC}" destId="{1734A79C-3559-474F-BEB4-342C2034C7D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53292-CFBF-420E-ACE7-C7F3AFD85CFE}">
      <dsp:nvSpPr>
        <dsp:cNvPr id="0" name=""/>
        <dsp:cNvSpPr/>
      </dsp:nvSpPr>
      <dsp:spPr>
        <a:xfrm rot="10800000">
          <a:off x="1686085" y="3870"/>
          <a:ext cx="5326082" cy="1378214"/>
        </a:xfrm>
        <a:prstGeom prst="homePlate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7754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HTML</a:t>
          </a:r>
          <a:r>
            <a:rPr lang="en-US" sz="2100" kern="1200" dirty="0"/>
            <a:t> – </a:t>
          </a:r>
          <a:r>
            <a:rPr lang="en-US" sz="2100" b="1" kern="1200" dirty="0">
              <a:solidFill>
                <a:schemeClr val="bg1"/>
              </a:solidFill>
            </a:rPr>
            <a:t>To structure the chat application.</a:t>
          </a:r>
          <a:endParaRPr lang="en-IN" sz="2100" b="1" kern="1200" dirty="0">
            <a:solidFill>
              <a:schemeClr val="bg1"/>
            </a:solidFill>
          </a:endParaRPr>
        </a:p>
      </dsp:txBody>
      <dsp:txXfrm rot="10800000">
        <a:off x="2030638" y="3870"/>
        <a:ext cx="4981529" cy="1378214"/>
      </dsp:txXfrm>
    </dsp:sp>
    <dsp:sp modelId="{547E59AD-ECE1-46C5-ABFF-1872E792FB3E}">
      <dsp:nvSpPr>
        <dsp:cNvPr id="0" name=""/>
        <dsp:cNvSpPr/>
      </dsp:nvSpPr>
      <dsp:spPr>
        <a:xfrm>
          <a:off x="996978" y="3870"/>
          <a:ext cx="1378214" cy="1378214"/>
        </a:xfrm>
        <a:prstGeom prst="ellipse">
          <a:avLst/>
        </a:prstGeom>
        <a:solidFill>
          <a:srgbClr val="8FE2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83DA36-55AF-4F3B-9CED-91E3BD3CAEFB}">
      <dsp:nvSpPr>
        <dsp:cNvPr id="0" name=""/>
        <dsp:cNvSpPr/>
      </dsp:nvSpPr>
      <dsp:spPr>
        <a:xfrm rot="10800000">
          <a:off x="1686085" y="1793492"/>
          <a:ext cx="5326082" cy="1378214"/>
        </a:xfrm>
        <a:prstGeom prst="homePlate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7754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CSS – </a:t>
          </a:r>
          <a:r>
            <a:rPr lang="en-US" sz="2100" b="1" kern="1200" dirty="0">
              <a:solidFill>
                <a:schemeClr val="bg1"/>
              </a:solidFill>
            </a:rPr>
            <a:t>To style the application and make it visually appealing and responsive.</a:t>
          </a:r>
          <a:endParaRPr lang="en-IN" sz="2100" b="1" kern="1200" dirty="0">
            <a:solidFill>
              <a:schemeClr val="bg1"/>
            </a:solidFill>
          </a:endParaRPr>
        </a:p>
      </dsp:txBody>
      <dsp:txXfrm rot="10800000">
        <a:off x="2030638" y="1793492"/>
        <a:ext cx="4981529" cy="1378214"/>
      </dsp:txXfrm>
    </dsp:sp>
    <dsp:sp modelId="{EAB78AB2-BCA7-41D5-B54D-2BE7C39B87DF}">
      <dsp:nvSpPr>
        <dsp:cNvPr id="0" name=""/>
        <dsp:cNvSpPr/>
      </dsp:nvSpPr>
      <dsp:spPr>
        <a:xfrm>
          <a:off x="996978" y="1793492"/>
          <a:ext cx="1378214" cy="1378214"/>
        </a:xfrm>
        <a:prstGeom prst="ellipse">
          <a:avLst/>
        </a:prstGeom>
        <a:solidFill>
          <a:srgbClr val="09FF7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34A79C-3559-474F-BEB4-342C2034C7D6}">
      <dsp:nvSpPr>
        <dsp:cNvPr id="0" name=""/>
        <dsp:cNvSpPr/>
      </dsp:nvSpPr>
      <dsp:spPr>
        <a:xfrm rot="10800000">
          <a:off x="1686085" y="3583114"/>
          <a:ext cx="5326082" cy="1378214"/>
        </a:xfrm>
        <a:prstGeom prst="homePlate">
          <a:avLst/>
        </a:prstGeom>
        <a:solidFill>
          <a:srgbClr val="E51B5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7754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JavaScript</a:t>
          </a:r>
          <a:r>
            <a:rPr lang="en-US" sz="2100" kern="1200" dirty="0"/>
            <a:t> – </a:t>
          </a:r>
          <a:r>
            <a:rPr lang="en-US" sz="2100" b="1" kern="1200" dirty="0">
              <a:solidFill>
                <a:schemeClr val="bg1"/>
              </a:solidFill>
            </a:rPr>
            <a:t>To add interactivity and handle chat logic, message rendering, timestamps, and data storage using localStorage.</a:t>
          </a:r>
          <a:endParaRPr lang="en-IN" sz="2100" b="1" kern="1200" dirty="0">
            <a:solidFill>
              <a:schemeClr val="bg1"/>
            </a:solidFill>
          </a:endParaRPr>
        </a:p>
      </dsp:txBody>
      <dsp:txXfrm rot="10800000">
        <a:off x="2030638" y="3583114"/>
        <a:ext cx="4981529" cy="1378214"/>
      </dsp:txXfrm>
    </dsp:sp>
    <dsp:sp modelId="{730E6C0B-4A21-4104-AC1A-871CFCE9D703}">
      <dsp:nvSpPr>
        <dsp:cNvPr id="0" name=""/>
        <dsp:cNvSpPr/>
      </dsp:nvSpPr>
      <dsp:spPr>
        <a:xfrm>
          <a:off x="996978" y="3583114"/>
          <a:ext cx="1378214" cy="1378214"/>
        </a:xfrm>
        <a:prstGeom prst="ellipse">
          <a:avLst/>
        </a:prstGeom>
        <a:solidFill>
          <a:srgbClr val="F67E8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66E302-901B-4EC5-8063-F4475DEAA8C8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B3765-1535-41FB-A927-AAD2D1E853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152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B3765-1535-41FB-A927-AAD2D1E8538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612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A32322-E236-FB6A-D4B8-F6D08F4039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l="19567" r="13056" b="32624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6428232" cy="4992624"/>
          </a:xfrm>
        </p:spPr>
        <p:txBody>
          <a:bodyPr wrap="square" anchor="b">
            <a:normAutofit/>
          </a:bodyPr>
          <a:lstStyle>
            <a:lvl1pPr algn="l">
              <a:defRPr sz="54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1272" y="914400"/>
            <a:ext cx="3392424" cy="25146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6483096" cy="3163824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8258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5669C7-03B9-341C-8E54-929B3B89CB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t="26965" r="31989" b="5024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77256" y="914400"/>
            <a:ext cx="5806440" cy="5129784"/>
          </a:xfrm>
        </p:spPr>
        <p:txBody>
          <a:bodyPr wrap="square" anchor="b">
            <a:normAutofit/>
          </a:bodyPr>
          <a:lstStyle>
            <a:lvl1pPr algn="r">
              <a:defRPr sz="54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A97C257-0C1F-79D6-2080-F863FF7F2D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4927249" cy="4991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8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1392AC-2F17-140B-1676-75B74CAC6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t="15701" r="40485" b="24784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822192"/>
            <a:ext cx="10360152" cy="2221992"/>
          </a:xfrm>
        </p:spPr>
        <p:txBody>
          <a:bodyPr wrap="square" anchor="b">
            <a:normAutofit/>
          </a:bodyPr>
          <a:lstStyle>
            <a:lvl1pPr algn="l">
              <a:defRPr sz="54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03336" y="914400"/>
            <a:ext cx="2880360" cy="2130552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DB65A55A-B3A8-36E5-D327-23E999B961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0"/>
            <a:ext cx="6940296" cy="327355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08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6483096" cy="3163824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0004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CB9F3A-C4B7-7DED-7AB7-0E1DC0872B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10741" t="4074" r="13612" b="20124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0152" cy="3008376"/>
          </a:xfrm>
        </p:spPr>
        <p:txBody>
          <a:bodyPr wrap="square" anchor="b">
            <a:normAutofit/>
          </a:bodyPr>
          <a:lstStyle>
            <a:lvl1pPr algn="ctr">
              <a:defRPr sz="60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175ECB-7AC9-8B60-1D2A-0DA9D75F9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078224"/>
            <a:ext cx="10360152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4288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224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6637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512064" indent="-512064">
              <a:spcBef>
                <a:spcPts val="1000"/>
              </a:spcBef>
              <a:buFont typeface="+mj-lt"/>
              <a:buAutoNum type="arabicPeriod"/>
              <a:defRPr/>
            </a:lvl2pPr>
            <a:lvl3pPr marL="1097280" indent="-512064">
              <a:spcBef>
                <a:spcPts val="1000"/>
              </a:spcBef>
              <a:buFont typeface="+mj-lt"/>
              <a:buAutoNum type="alphaLcPeriod"/>
              <a:defRPr/>
            </a:lvl3pPr>
            <a:lvl4pPr marL="1645920" indent="-512064">
              <a:spcBef>
                <a:spcPts val="1000"/>
              </a:spcBef>
              <a:buFont typeface="+mj-lt"/>
              <a:buAutoNum type="arabicParenR"/>
              <a:defRPr/>
            </a:lvl4pPr>
            <a:lvl5pPr marL="2194560" indent="-512064">
              <a:spcBef>
                <a:spcPts val="1000"/>
              </a:spcBef>
              <a:buFont typeface="+mj-lt"/>
              <a:buAutoNum type="alphaLcParenR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224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5522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7723F4FA-7ADE-EA52-E869-4842D0C7FC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743200"/>
            <a:ext cx="4764024" cy="31638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12664" y="2743200"/>
            <a:ext cx="5971032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992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017520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272" y="2871216"/>
            <a:ext cx="6812280" cy="3035808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0965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6812280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500"/>
              </a:spcBef>
              <a:defRPr/>
            </a:lvl3pPr>
            <a:lvl4pPr marL="1143000">
              <a:spcBef>
                <a:spcPts val="500"/>
              </a:spcBef>
              <a:defRPr/>
            </a:lvl4pPr>
            <a:lvl5pPr marL="1600200">
              <a:spcBef>
                <a:spcPts val="5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75320" y="2743200"/>
            <a:ext cx="2999232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2839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871216"/>
            <a:ext cx="10360152" cy="3035808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500"/>
              </a:spcBef>
              <a:defRPr/>
            </a:lvl3pPr>
            <a:lvl4pPr marL="1143000">
              <a:spcBef>
                <a:spcPts val="500"/>
              </a:spcBef>
              <a:defRPr/>
            </a:lvl4pPr>
            <a:lvl5pPr marL="1600200">
              <a:spcBef>
                <a:spcPts val="5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6657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68743-342F-6CA4-7BA5-942F2C4C23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1151" t="1794" r="25966" b="25175"/>
          <a:stretch/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5788152" cy="4992624"/>
          </a:xfrm>
        </p:spPr>
        <p:txBody>
          <a:bodyPr wrap="square" anchor="t">
            <a:normAutofit/>
          </a:bodyPr>
          <a:lstStyle>
            <a:lvl1pPr algn="l">
              <a:defRPr sz="60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175ECB-7AC9-8B60-1D2A-0DA9D75F9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9712" y="914400"/>
            <a:ext cx="4434840" cy="4992624"/>
          </a:xfrm>
        </p:spPr>
        <p:txBody>
          <a:bodyPr anchor="b">
            <a:normAutofit/>
          </a:bodyPr>
          <a:lstStyle>
            <a:lvl1pPr marL="0" indent="0" algn="l">
              <a:lnSpc>
                <a:spcPct val="70000"/>
              </a:lnSpc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148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F3310A-1B80-61B0-BFD3-6FD5028944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alphaModFix/>
          </a:blip>
          <a:srcRect l="19567" r="13056" b="32624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D8424F-C2F4-1029-7B75-2B8A9326B3D7}"/>
              </a:ext>
            </a:extLst>
          </p:cNvPr>
          <p:cNvSpPr/>
          <p:nvPr userDrawn="1"/>
        </p:nvSpPr>
        <p:spPr>
          <a:xfrm>
            <a:off x="139700" y="136525"/>
            <a:ext cx="11912600" cy="65849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43200"/>
            <a:ext cx="6483096" cy="3163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8855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0" y="457200"/>
            <a:ext cx="9564624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2760" y="466344"/>
            <a:ext cx="107899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u="sng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cool-pie-9d3ef8.netlify.app/" TargetMode="Externa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B52D5E-13D9-8B22-6BAA-51DF22A37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55" y="226443"/>
            <a:ext cx="11455879" cy="644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6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AC2BC53-0CE7-3117-0C3D-9435FF277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US" dirty="0"/>
              <a:t>🔍 Objective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5FE201-66E6-9884-8CE5-29160B58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F3601A2-1153-809A-A08D-4131BD4FF6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2128" y="2225614"/>
            <a:ext cx="4042913" cy="33700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main objective of this project is to design and develop a simple yet functional web-based chat application using front-end technologies (</a:t>
            </a:r>
            <a:r>
              <a:rPr lang="en-US" b="1" dirty="0">
                <a:solidFill>
                  <a:schemeClr val="bg1"/>
                </a:solidFill>
              </a:rPr>
              <a:t>HTML, CSS and JavaScript</a:t>
            </a:r>
            <a:r>
              <a:rPr lang="en-US" dirty="0">
                <a:solidFill>
                  <a:schemeClr val="bg1"/>
                </a:solidFill>
              </a:rPr>
              <a:t>). This application allows users to send and receive messages in a conversational interface, simulating a basic chat experience.</a:t>
            </a:r>
            <a:endParaRPr lang="en-IN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6ADC48-EEF3-618C-6801-15CC586E6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615" y="126521"/>
            <a:ext cx="6711351" cy="655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82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741DD-9A1B-F636-68CB-E8BB4C6D0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56558" y="345057"/>
            <a:ext cx="5095336" cy="1052423"/>
          </a:xfrm>
        </p:spPr>
        <p:txBody>
          <a:bodyPr>
            <a:normAutofit/>
          </a:bodyPr>
          <a:lstStyle/>
          <a:p>
            <a:r>
              <a:rPr lang="en-US" sz="3600" spc="-10" dirty="0">
                <a:solidFill>
                  <a:srgbClr val="545454"/>
                </a:solidFill>
                <a:latin typeface="Times New Roman"/>
                <a:cs typeface="Times New Roman"/>
              </a:rPr>
              <a:t>WHAT </a:t>
            </a:r>
            <a:r>
              <a:rPr lang="en-US" sz="3600" spc="-25" dirty="0">
                <a:solidFill>
                  <a:srgbClr val="565656"/>
                </a:solidFill>
                <a:latin typeface="Times New Roman"/>
                <a:cs typeface="Times New Roman"/>
              </a:rPr>
              <a:t>IS </a:t>
            </a:r>
            <a:r>
              <a:rPr lang="en-US" sz="3600" spc="75" dirty="0">
                <a:solidFill>
                  <a:srgbClr val="525252"/>
                </a:solidFill>
                <a:latin typeface="Times New Roman"/>
                <a:cs typeface="Times New Roman"/>
              </a:rPr>
              <a:t>CHAT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FE90F-D6A3-DE10-0562-A8CB5322F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0" y="2329132"/>
            <a:ext cx="5962650" cy="3577892"/>
          </a:xfrm>
        </p:spPr>
        <p:txBody>
          <a:bodyPr/>
          <a:lstStyle/>
          <a:p>
            <a:pPr marL="15875" algn="l">
              <a:lnSpc>
                <a:spcPts val="2910"/>
              </a:lnSpc>
              <a:spcBef>
                <a:spcPts val="90"/>
              </a:spcBef>
              <a:tabLst>
                <a:tab pos="3719195" algn="l"/>
              </a:tabLst>
            </a:pPr>
            <a:r>
              <a:rPr lang="en-US" sz="2400" spc="90" dirty="0">
                <a:latin typeface="Times New Roman"/>
                <a:cs typeface="Times New Roman"/>
              </a:rPr>
              <a:t>Real-time</a:t>
            </a:r>
            <a:r>
              <a:rPr lang="en-US" sz="2400" spc="315" dirty="0">
                <a:latin typeface="Times New Roman"/>
                <a:cs typeface="Times New Roman"/>
              </a:rPr>
              <a:t> </a:t>
            </a:r>
            <a:r>
              <a:rPr lang="en-US" sz="2400" spc="80" dirty="0">
                <a:latin typeface="Times New Roman"/>
                <a:cs typeface="Times New Roman"/>
              </a:rPr>
              <a:t>communication</a:t>
            </a:r>
            <a:r>
              <a:rPr lang="en-US" sz="2400" dirty="0">
                <a:latin typeface="Times New Roman"/>
                <a:cs typeface="Times New Roman"/>
              </a:rPr>
              <a:t>	</a:t>
            </a:r>
            <a:r>
              <a:rPr lang="en-US" sz="2400" spc="90" dirty="0">
                <a:latin typeface="Times New Roman"/>
                <a:cs typeface="Times New Roman"/>
              </a:rPr>
              <a:t>between</a:t>
            </a:r>
            <a:endParaRPr lang="en-US" sz="2400" dirty="0">
              <a:latin typeface="Times New Roman"/>
              <a:cs typeface="Times New Roman"/>
            </a:endParaRPr>
          </a:p>
          <a:p>
            <a:pPr marL="12700" marR="5080" indent="5715" algn="l">
              <a:lnSpc>
                <a:spcPct val="97700"/>
              </a:lnSpc>
              <a:spcBef>
                <a:spcPts val="40"/>
              </a:spcBef>
              <a:tabLst>
                <a:tab pos="548640" algn="l"/>
              </a:tabLst>
            </a:pPr>
            <a:r>
              <a:rPr lang="en-US" sz="2400" spc="70" dirty="0">
                <a:latin typeface="Times New Roman"/>
                <a:cs typeface="Times New Roman"/>
              </a:rPr>
              <a:t>two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spc="145" dirty="0">
                <a:latin typeface="Times New Roman"/>
                <a:cs typeface="Times New Roman"/>
              </a:rPr>
              <a:t>users</a:t>
            </a:r>
            <a:r>
              <a:rPr lang="en-US" sz="2400" spc="175" dirty="0">
                <a:latin typeface="Times New Roman"/>
                <a:cs typeface="Times New Roman"/>
              </a:rPr>
              <a:t> </a:t>
            </a:r>
            <a:r>
              <a:rPr lang="en-US" sz="2400" spc="85" dirty="0">
                <a:latin typeface="Times New Roman"/>
                <a:cs typeface="Times New Roman"/>
              </a:rPr>
              <a:t>via</a:t>
            </a:r>
            <a:r>
              <a:rPr lang="en-US" sz="2400" spc="135" dirty="0">
                <a:latin typeface="Times New Roman"/>
                <a:cs typeface="Times New Roman"/>
              </a:rPr>
              <a:t> </a:t>
            </a:r>
            <a:r>
              <a:rPr lang="en-US" sz="2400" spc="105" dirty="0">
                <a:latin typeface="Times New Roman"/>
                <a:cs typeface="Times New Roman"/>
              </a:rPr>
              <a:t>computer.</a:t>
            </a:r>
            <a:r>
              <a:rPr lang="en-US" sz="2400" spc="300" dirty="0">
                <a:latin typeface="Times New Roman"/>
                <a:cs typeface="Times New Roman"/>
              </a:rPr>
              <a:t> </a:t>
            </a:r>
            <a:r>
              <a:rPr lang="en-US" sz="2400" spc="60" dirty="0">
                <a:latin typeface="Times New Roman"/>
                <a:cs typeface="Times New Roman"/>
              </a:rPr>
              <a:t>Once</a:t>
            </a:r>
            <a:r>
              <a:rPr lang="en-US" sz="2400" spc="204" dirty="0">
                <a:latin typeface="Times New Roman"/>
                <a:cs typeface="Times New Roman"/>
              </a:rPr>
              <a:t> </a:t>
            </a:r>
            <a:r>
              <a:rPr lang="en-US" sz="2400" spc="50" dirty="0">
                <a:latin typeface="Times New Roman"/>
                <a:cs typeface="Times New Roman"/>
              </a:rPr>
              <a:t>a</a:t>
            </a:r>
            <a:r>
              <a:rPr lang="en-US" sz="2400" spc="150" dirty="0">
                <a:latin typeface="Times New Roman"/>
                <a:cs typeface="Times New Roman"/>
              </a:rPr>
              <a:t> </a:t>
            </a:r>
            <a:r>
              <a:rPr lang="en-US" sz="2400" spc="145" dirty="0">
                <a:latin typeface="Times New Roman"/>
                <a:cs typeface="Times New Roman"/>
              </a:rPr>
              <a:t>chat</a:t>
            </a:r>
            <a:r>
              <a:rPr lang="en-US" sz="2400" spc="245" dirty="0">
                <a:latin typeface="Times New Roman"/>
                <a:cs typeface="Times New Roman"/>
              </a:rPr>
              <a:t> </a:t>
            </a:r>
            <a:r>
              <a:rPr lang="en-US" sz="2400" spc="155" dirty="0">
                <a:latin typeface="Times New Roman"/>
                <a:cs typeface="Times New Roman"/>
              </a:rPr>
              <a:t>has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spc="95" dirty="0">
                <a:latin typeface="Times New Roman"/>
                <a:cs typeface="Times New Roman"/>
              </a:rPr>
              <a:t>been </a:t>
            </a:r>
            <a:r>
              <a:rPr lang="en-US" sz="2400" spc="125" dirty="0">
                <a:latin typeface="Times New Roman"/>
                <a:cs typeface="Times New Roman"/>
              </a:rPr>
              <a:t>initiated,</a:t>
            </a:r>
            <a:r>
              <a:rPr lang="en-US" sz="2400" spc="225" dirty="0">
                <a:latin typeface="Times New Roman"/>
                <a:cs typeface="Times New Roman"/>
              </a:rPr>
              <a:t> </a:t>
            </a:r>
            <a:r>
              <a:rPr lang="en-US" sz="2400" spc="145" dirty="0">
                <a:latin typeface="Times New Roman"/>
                <a:cs typeface="Times New Roman"/>
              </a:rPr>
              <a:t>either</a:t>
            </a:r>
            <a:r>
              <a:rPr lang="en-US" sz="2400" spc="229" dirty="0">
                <a:latin typeface="Times New Roman"/>
                <a:cs typeface="Times New Roman"/>
              </a:rPr>
              <a:t> </a:t>
            </a:r>
            <a:r>
              <a:rPr lang="en-US" sz="2400" spc="140" dirty="0">
                <a:latin typeface="Times New Roman"/>
                <a:cs typeface="Times New Roman"/>
              </a:rPr>
              <a:t>user</a:t>
            </a:r>
            <a:r>
              <a:rPr lang="en-US" sz="2400" spc="200" dirty="0">
                <a:latin typeface="Times New Roman"/>
                <a:cs typeface="Times New Roman"/>
              </a:rPr>
              <a:t> </a:t>
            </a:r>
            <a:r>
              <a:rPr lang="en-US" sz="2400" spc="155" dirty="0">
                <a:latin typeface="Times New Roman"/>
                <a:cs typeface="Times New Roman"/>
              </a:rPr>
              <a:t>can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165" dirty="0">
                <a:latin typeface="Times New Roman"/>
                <a:cs typeface="Times New Roman"/>
              </a:rPr>
              <a:t>enter</a:t>
            </a:r>
            <a:r>
              <a:rPr lang="en-US" sz="2400" spc="260" dirty="0">
                <a:latin typeface="Times New Roman"/>
                <a:cs typeface="Times New Roman"/>
              </a:rPr>
              <a:t> </a:t>
            </a:r>
            <a:r>
              <a:rPr lang="en-US" sz="2400" spc="114" dirty="0">
                <a:latin typeface="Times New Roman"/>
                <a:cs typeface="Times New Roman"/>
              </a:rPr>
              <a:t>text</a:t>
            </a:r>
            <a:r>
              <a:rPr lang="en-US" sz="2400" spc="254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by</a:t>
            </a:r>
            <a:r>
              <a:rPr lang="en-US" sz="2400" spc="190" dirty="0">
                <a:latin typeface="Times New Roman"/>
                <a:cs typeface="Times New Roman"/>
              </a:rPr>
              <a:t> </a:t>
            </a:r>
            <a:r>
              <a:rPr lang="en-US" sz="2400" spc="110" dirty="0">
                <a:latin typeface="Times New Roman"/>
                <a:cs typeface="Times New Roman"/>
              </a:rPr>
              <a:t>typing</a:t>
            </a:r>
            <a:r>
              <a:rPr lang="en-US" sz="2400" spc="160" dirty="0">
                <a:latin typeface="Times New Roman"/>
                <a:cs typeface="Times New Roman"/>
              </a:rPr>
              <a:t> </a:t>
            </a:r>
            <a:r>
              <a:rPr lang="en-US" sz="2400" spc="35" dirty="0">
                <a:latin typeface="Times New Roman"/>
                <a:cs typeface="Times New Roman"/>
              </a:rPr>
              <a:t>on </a:t>
            </a:r>
            <a:r>
              <a:rPr lang="en-US" sz="2400" spc="-25" dirty="0">
                <a:latin typeface="Times New Roman"/>
                <a:cs typeface="Times New Roman"/>
              </a:rPr>
              <a:t>the</a:t>
            </a:r>
            <a:r>
              <a:rPr lang="en-US" sz="2400" dirty="0">
                <a:latin typeface="Times New Roman"/>
                <a:cs typeface="Times New Roman"/>
              </a:rPr>
              <a:t>	</a:t>
            </a:r>
            <a:r>
              <a:rPr lang="en-US" sz="2400" spc="100" dirty="0">
                <a:latin typeface="Times New Roman"/>
                <a:cs typeface="Times New Roman"/>
              </a:rPr>
              <a:t>keyboard</a:t>
            </a:r>
            <a:r>
              <a:rPr lang="en-US" sz="2400" spc="330" dirty="0">
                <a:latin typeface="Times New Roman"/>
                <a:cs typeface="Times New Roman"/>
              </a:rPr>
              <a:t> </a:t>
            </a:r>
            <a:r>
              <a:rPr lang="en-US" sz="2400" spc="105" dirty="0">
                <a:latin typeface="Times New Roman"/>
                <a:cs typeface="Times New Roman"/>
              </a:rPr>
              <a:t>and</a:t>
            </a:r>
            <a:r>
              <a:rPr lang="en-US" sz="2400" spc="390" dirty="0">
                <a:latin typeface="Times New Roman"/>
                <a:cs typeface="Times New Roman"/>
              </a:rPr>
              <a:t> </a:t>
            </a:r>
            <a:r>
              <a:rPr lang="en-US" sz="2400" spc="85" dirty="0">
                <a:latin typeface="Times New Roman"/>
                <a:cs typeface="Times New Roman"/>
              </a:rPr>
              <a:t>the</a:t>
            </a:r>
            <a:r>
              <a:rPr lang="en-US" sz="2400" spc="370" dirty="0">
                <a:latin typeface="Times New Roman"/>
                <a:cs typeface="Times New Roman"/>
              </a:rPr>
              <a:t> </a:t>
            </a:r>
            <a:r>
              <a:rPr lang="en-US" sz="2400" spc="140" dirty="0">
                <a:latin typeface="Times New Roman"/>
                <a:cs typeface="Times New Roman"/>
              </a:rPr>
              <a:t>entered</a:t>
            </a:r>
            <a:r>
              <a:rPr lang="en-US" sz="2400" spc="295" dirty="0">
                <a:latin typeface="Times New Roman"/>
                <a:cs typeface="Times New Roman"/>
              </a:rPr>
              <a:t> </a:t>
            </a:r>
            <a:r>
              <a:rPr lang="en-US" sz="2400" spc="114" dirty="0">
                <a:latin typeface="Times New Roman"/>
                <a:cs typeface="Times New Roman"/>
              </a:rPr>
              <a:t>text</a:t>
            </a:r>
            <a:r>
              <a:rPr lang="en-US" sz="2400" spc="3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will</a:t>
            </a:r>
            <a:r>
              <a:rPr lang="en-US" sz="2400" spc="100" dirty="0">
                <a:latin typeface="Times New Roman"/>
                <a:cs typeface="Times New Roman"/>
              </a:rPr>
              <a:t> </a:t>
            </a:r>
            <a:r>
              <a:rPr lang="en-US" sz="2400" spc="160" dirty="0">
                <a:latin typeface="Times New Roman"/>
                <a:cs typeface="Times New Roman"/>
              </a:rPr>
              <a:t>appear</a:t>
            </a:r>
            <a:r>
              <a:rPr lang="en-US" sz="2400" spc="245" dirty="0">
                <a:latin typeface="Times New Roman"/>
                <a:cs typeface="Times New Roman"/>
              </a:rPr>
              <a:t> </a:t>
            </a:r>
            <a:r>
              <a:rPr lang="en-US" sz="2400" spc="35" dirty="0">
                <a:latin typeface="Times New Roman"/>
                <a:cs typeface="Times New Roman"/>
              </a:rPr>
              <a:t>on </a:t>
            </a:r>
            <a:r>
              <a:rPr lang="en-US" sz="2400" spc="-25" dirty="0">
                <a:latin typeface="Times New Roman"/>
                <a:cs typeface="Times New Roman"/>
              </a:rPr>
              <a:t>the</a:t>
            </a:r>
            <a:r>
              <a:rPr lang="en-US" sz="2400" dirty="0">
                <a:latin typeface="Times New Roman"/>
                <a:cs typeface="Times New Roman"/>
              </a:rPr>
              <a:t>	</a:t>
            </a:r>
            <a:r>
              <a:rPr lang="en-US" sz="2400" spc="-620" dirty="0">
                <a:latin typeface="Times New Roman"/>
                <a:cs typeface="Times New Roman"/>
              </a:rPr>
              <a:t> </a:t>
            </a:r>
            <a:r>
              <a:rPr lang="en-US" sz="2400" spc="140" dirty="0">
                <a:latin typeface="Times New Roman"/>
                <a:cs typeface="Times New Roman"/>
              </a:rPr>
              <a:t>other</a:t>
            </a:r>
            <a:r>
              <a:rPr lang="en-US" sz="2400" spc="245" dirty="0">
                <a:latin typeface="Times New Roman"/>
                <a:cs typeface="Times New Roman"/>
              </a:rPr>
              <a:t> </a:t>
            </a:r>
            <a:r>
              <a:rPr lang="en-US" sz="2400" spc="120" dirty="0">
                <a:latin typeface="Times New Roman"/>
                <a:cs typeface="Times New Roman"/>
              </a:rPr>
              <a:t>user's</a:t>
            </a:r>
            <a:r>
              <a:rPr lang="en-US" sz="2400" spc="210" dirty="0">
                <a:latin typeface="Times New Roman"/>
                <a:cs typeface="Times New Roman"/>
              </a:rPr>
              <a:t> </a:t>
            </a:r>
            <a:r>
              <a:rPr lang="en-US" sz="2400" spc="80" dirty="0">
                <a:latin typeface="Times New Roman"/>
                <a:cs typeface="Times New Roman"/>
              </a:rPr>
              <a:t>monitor.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B7C7DC-B1DE-CCCE-200F-949281782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226" y="0"/>
            <a:ext cx="62397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EDFF8-D905-6261-CD85-189A75FC2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557" y="109267"/>
            <a:ext cx="10360152" cy="1063867"/>
          </a:xfrm>
        </p:spPr>
        <p:txBody>
          <a:bodyPr>
            <a:normAutofit/>
          </a:bodyPr>
          <a:lstStyle/>
          <a:p>
            <a:r>
              <a:rPr lang="en-IN" dirty="0"/>
              <a:t>⚙️ Technologies Used</a:t>
            </a:r>
            <a:endParaRPr lang="en-US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50054E54-209B-07AF-F91C-7494165AF7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7816220"/>
              </p:ext>
            </p:extLst>
          </p:nvPr>
        </p:nvGraphicFramePr>
        <p:xfrm>
          <a:off x="2032000" y="1173134"/>
          <a:ext cx="8009147" cy="4965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74291CD3-A5A4-EC3C-D75A-735ACD0D91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1046" y="1416054"/>
            <a:ext cx="820947" cy="8209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10A38A-36F8-3684-5C35-5760398B05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0823" y="3300868"/>
            <a:ext cx="541395" cy="6561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34638A-0EF0-D39E-2E47-41D1ED0AF8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0185" y="5020862"/>
            <a:ext cx="642667" cy="81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146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3EE1B8-2446-2DF7-962B-DB92A9420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1376"/>
            <a:ext cx="10360152" cy="609600"/>
          </a:xfrm>
        </p:spPr>
        <p:txBody>
          <a:bodyPr/>
          <a:lstStyle/>
          <a:p>
            <a:r>
              <a:rPr lang="en-IN" dirty="0"/>
              <a:t>🧩 Features Implemented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5A3497-079A-3258-D681-B00DC23DA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2CF4465A-4B0E-97C3-60E3-346B16ED7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740" y="950976"/>
            <a:ext cx="920316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User Interface: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Clean, responsive layout using CSS Flexbox and media queries.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Chat bubble design for user and bot messages.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Scrollable chat window.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2. Messaging System: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Input field for typing messages.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Button to send messages.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Auto-reply bot messages.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3. Timestamps: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Each message includes the time it was sent.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4. Data Persistence: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Chat history is saved 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localStorage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so it remains available after page reloads.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5. Message Rendering: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Dynamic DOM manipulation to display sent and received messages in the chat window.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203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AAA301-4419-5EB9-BF05-3905B10A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9910B-0A09-5EE8-AA10-A18D123F317F}"/>
              </a:ext>
            </a:extLst>
          </p:cNvPr>
          <p:cNvSpPr txBox="1"/>
          <p:nvPr/>
        </p:nvSpPr>
        <p:spPr>
          <a:xfrm>
            <a:off x="856891" y="60608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🧠 </a:t>
            </a:r>
            <a:r>
              <a:rPr lang="en-IN" sz="2400" b="1" dirty="0">
                <a:solidFill>
                  <a:schemeClr val="bg1"/>
                </a:solidFill>
              </a:rPr>
              <a:t>Working Principle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0C3B4-21E6-3292-AD1F-499841D00084}"/>
              </a:ext>
            </a:extLst>
          </p:cNvPr>
          <p:cNvSpPr txBox="1"/>
          <p:nvPr/>
        </p:nvSpPr>
        <p:spPr>
          <a:xfrm>
            <a:off x="856891" y="152385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user types a message in the input box and clicks send.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JavaScript captures the input, adds the message to the chat window, and stores it in localStorage.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simulated bot reply is generated after a short delay.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Both user and bot messages are displayed with timestamps.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On page load, stored messages are retrieved and rendered from localStorage.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18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457EB0-5F4A-BC62-ACDA-C1858459B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48" y="235788"/>
            <a:ext cx="10360152" cy="678611"/>
          </a:xfrm>
        </p:spPr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0D553D-0E85-61CD-BAC7-583390CC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716E07-E332-A5DD-FEB0-45B09617D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789" y="1040920"/>
            <a:ext cx="8823848" cy="538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04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A1CA7-F318-6CE8-3DC3-A74C4690C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48" y="258793"/>
            <a:ext cx="10360152" cy="603849"/>
          </a:xfrm>
        </p:spPr>
        <p:txBody>
          <a:bodyPr/>
          <a:lstStyle/>
          <a:p>
            <a:r>
              <a:rPr lang="en-US" dirty="0"/>
              <a:t>CSS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CC1ADA-473A-99E0-A791-CB935186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381ABA-6AAC-3067-F914-E108EEA1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34" y="753372"/>
            <a:ext cx="3725853" cy="5788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0626B7-7B14-00BA-1881-53413833C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166" y="747526"/>
            <a:ext cx="3620664" cy="57883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57FDEB-3B61-668E-D1B3-D2F831B7D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139" y="776280"/>
            <a:ext cx="3620663" cy="573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41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CE5EE-DE5D-C414-4C33-AB3173FAF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1AD9C-9875-47BE-8392-1CA652A5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48" y="258793"/>
            <a:ext cx="10360152" cy="603849"/>
          </a:xfrm>
        </p:spPr>
        <p:txBody>
          <a:bodyPr/>
          <a:lstStyle/>
          <a:p>
            <a:r>
              <a:rPr lang="en-US" dirty="0"/>
              <a:t>JavaScript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A656B1-E378-1F81-8881-CBA5770A5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F4E89B-9110-4B22-8F9C-7D43ED3D2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267" y="862642"/>
            <a:ext cx="6849466" cy="573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01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3E591D-BF59-75A6-B1C9-DBC3D8D72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10" y="304798"/>
            <a:ext cx="10360152" cy="603849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9CB80-DDDE-3407-AEE0-0CFDD679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7791F9-C3FB-E029-C203-38B2621B2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380" y="603849"/>
            <a:ext cx="4745239" cy="594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72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3287-20E1-637F-85FF-CB39F78B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48" y="241540"/>
            <a:ext cx="10360152" cy="621102"/>
          </a:xfrm>
        </p:spPr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A6912D-8277-A730-240D-469A38A71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Screen Recording 2025-05-18 164008">
            <a:hlinkClick r:id="" action="ppaction://media"/>
            <a:extLst>
              <a:ext uri="{FF2B5EF4-FFF2-40B4-BE49-F238E27FC236}">
                <a16:creationId xmlns:a16="http://schemas.microsoft.com/office/drawing/2014/main" id="{AFABC531-8496-DC44-F2F9-8F771E51622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55693" y="1160881"/>
            <a:ext cx="5136510" cy="453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3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58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566A-96AC-9594-85E5-FA350AD9D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24611"/>
            <a:ext cx="10360152" cy="900340"/>
          </a:xfrm>
        </p:spPr>
        <p:txBody>
          <a:bodyPr/>
          <a:lstStyle/>
          <a:p>
            <a:r>
              <a:rPr lang="en-US" dirty="0"/>
              <a:t>Social media link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A2E20C-5505-556A-7D59-C87C9295A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BC4C3F-D423-531B-61BA-1D9B28E78C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4400" y="1398974"/>
            <a:ext cx="10360152" cy="1413237"/>
          </a:xfrm>
        </p:spPr>
        <p:txBody>
          <a:bodyPr/>
          <a:lstStyle/>
          <a:p>
            <a:r>
              <a:rPr lang="en-US" dirty="0"/>
              <a:t>Netlify Link: </a:t>
            </a:r>
            <a:r>
              <a:rPr lang="en-IN" dirty="0">
                <a:hlinkClick r:id="rId2"/>
              </a:rPr>
              <a:t>Simple Chat App</a:t>
            </a:r>
            <a:endParaRPr lang="en-IN" dirty="0"/>
          </a:p>
          <a:p>
            <a:endParaRPr lang="en-IN" dirty="0"/>
          </a:p>
          <a:p>
            <a:r>
              <a:rPr lang="en-IN" dirty="0"/>
              <a:t>GitHub Link: </a:t>
            </a:r>
          </a:p>
        </p:txBody>
      </p:sp>
    </p:spTree>
    <p:extLst>
      <p:ext uri="{BB962C8B-B14F-4D97-AF65-F5344CB8AC3E}">
        <p14:creationId xmlns:p14="http://schemas.microsoft.com/office/powerpoint/2010/main" val="3815849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2DBB5-7951-6BD8-B025-ABCC20D40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17" y="2656936"/>
            <a:ext cx="6630838" cy="669986"/>
          </a:xfrm>
        </p:spPr>
        <p:txBody>
          <a:bodyPr>
            <a:normAutofit/>
          </a:bodyPr>
          <a:lstStyle/>
          <a:p>
            <a:r>
              <a:rPr lang="en-IN" sz="2400" b="1" dirty="0"/>
              <a:t>📈 Future Enhancements</a:t>
            </a:r>
            <a:endParaRPr lang="en-US" sz="2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AE622F-4D29-CE2E-94C6-579397598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A14529-13B2-5F66-A8E9-EA890736E5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3531078"/>
            <a:ext cx="5244860" cy="2375945"/>
          </a:xfrm>
        </p:spPr>
        <p:txBody>
          <a:bodyPr>
            <a:normAutofit/>
          </a:bodyPr>
          <a:lstStyle/>
          <a:p>
            <a:r>
              <a:rPr lang="en-US" dirty="0"/>
              <a:t>Add user authentication.</a:t>
            </a:r>
          </a:p>
          <a:p>
            <a:r>
              <a:rPr lang="en-US" dirty="0"/>
              <a:t>Implement real-time messaging using  WebSockets (e.g., with Node.js &amp; Socket.IO).</a:t>
            </a:r>
          </a:p>
          <a:p>
            <a:r>
              <a:rPr lang="en-US" dirty="0"/>
              <a:t>Enable group chat or multi-user support.</a:t>
            </a:r>
          </a:p>
          <a:p>
            <a:r>
              <a:rPr lang="en-US" dirty="0"/>
              <a:t>Add emojis, media sharing, or message editing/deleting.</a:t>
            </a:r>
          </a:p>
          <a:p>
            <a:r>
              <a:rPr lang="en-US" dirty="0"/>
              <a:t>Add dark/light theme toggle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3D999-B4DC-EFF9-B09C-4B6A4A42282B}"/>
              </a:ext>
            </a:extLst>
          </p:cNvPr>
          <p:cNvSpPr txBox="1"/>
          <p:nvPr/>
        </p:nvSpPr>
        <p:spPr>
          <a:xfrm>
            <a:off x="759125" y="26806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👨‍💻</a:t>
            </a:r>
            <a:r>
              <a:rPr lang="en-IN" sz="2400" b="1" dirty="0"/>
              <a:t> C</a:t>
            </a:r>
            <a:r>
              <a:rPr kumimoji="0" lang="en-US" sz="2400" b="1" i="0" u="sng" strike="noStrike" kern="1200" cap="all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 Conclusion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5B4DDC-D805-D56E-4A6A-2E37DE8E28B2}"/>
              </a:ext>
            </a:extLst>
          </p:cNvPr>
          <p:cNvSpPr txBox="1"/>
          <p:nvPr/>
        </p:nvSpPr>
        <p:spPr>
          <a:xfrm>
            <a:off x="881677" y="1070246"/>
            <a:ext cx="5507621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This project demonstrates the ability to build a fully functional client-side chat interface using only HTML, CSS, and JavaScript. It reinforces concepts like DOM manipulation, event handling, data storage with localStorage, and user experience design.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749DBD-CDA6-C460-E1D3-B5A1A331C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989" y="169721"/>
            <a:ext cx="5927611" cy="642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1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42CE-B1FF-F5F8-B080-90809092D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5788152" cy="4992624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F0BF0-B107-5FCC-4DFD-8E4AD8FDA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9712" y="914400"/>
            <a:ext cx="4434840" cy="4992624"/>
          </a:xfrm>
        </p:spPr>
        <p:txBody>
          <a:bodyPr/>
          <a:lstStyle/>
          <a:p>
            <a:r>
              <a:rPr lang="en-US"/>
              <a:t>Brita Tamm</a:t>
            </a:r>
          </a:p>
          <a:p>
            <a:r>
              <a:rPr lang="en-US"/>
              <a:t>502-555-0152</a:t>
            </a:r>
          </a:p>
          <a:p>
            <a:r>
              <a:rPr lang="en-US"/>
              <a:t>brita@firstupconsultants.com</a:t>
            </a:r>
          </a:p>
          <a:p>
            <a:r>
              <a:rPr lang="en-US"/>
              <a:t>www.firstupconsultants.com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03676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TM77929380">
      <a:dk1>
        <a:srgbClr val="000000"/>
      </a:dk1>
      <a:lt1>
        <a:srgbClr val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7929380_win32_SD_v4" id="{FF6791CE-8A46-4E30-BBEB-5F2323043503}" vid="{107E73D9-B12F-464E-997E-142EF79586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F23494-F630-4E01-81EA-AA2F2975971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76CE1C2-24FF-4125-B61C-AD39973FCD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7D135F-652A-4667-A553-71B83EC65B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3944</TotalTime>
  <Words>451</Words>
  <Application>Microsoft Office PowerPoint</Application>
  <PresentationFormat>Widescreen</PresentationFormat>
  <Paragraphs>67</Paragraphs>
  <Slides>14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Unicode MS</vt:lpstr>
      <vt:lpstr>Calibri</vt:lpstr>
      <vt:lpstr>Corbel</vt:lpstr>
      <vt:lpstr>Times New Roman</vt:lpstr>
      <vt:lpstr>Depth</vt:lpstr>
      <vt:lpstr>PowerPoint Presentation</vt:lpstr>
      <vt:lpstr>🔍 Objective</vt:lpstr>
      <vt:lpstr>WHAT IS CHAT</vt:lpstr>
      <vt:lpstr>⚙️ Technologies Used</vt:lpstr>
      <vt:lpstr>🧩 Features Implemented</vt:lpstr>
      <vt:lpstr>PowerPoint Presentation</vt:lpstr>
      <vt:lpstr>HTML</vt:lpstr>
      <vt:lpstr>CSS</vt:lpstr>
      <vt:lpstr>JavaScript</vt:lpstr>
      <vt:lpstr>output</vt:lpstr>
      <vt:lpstr>demo</vt:lpstr>
      <vt:lpstr>Social media link</vt:lpstr>
      <vt:lpstr>📈 Future Enhancements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cp:lastModifiedBy>ROHIT  MANDADI</cp:lastModifiedBy>
  <cp:revision>14</cp:revision>
  <dcterms:created xsi:type="dcterms:W3CDTF">2023-08-29T05:41:31Z</dcterms:created>
  <dcterms:modified xsi:type="dcterms:W3CDTF">2025-05-18T11:19:47Z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Depth:8</vt:lpwstr>
  </property>
  <property fmtid="{D5CDD505-2E9C-101B-9397-08002B2CF9AE}" pid="5" name="ClassificationContentMarkingFooterText">
    <vt:lpwstr>Classified as Microsoft Confidential</vt:lpwstr>
  </property>
</Properties>
</file>